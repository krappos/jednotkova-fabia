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9" r:id="rId3"/>
    <p:sldId id="260" r:id="rId4"/>
    <p:sldId id="261" r:id="rId5"/>
    <p:sldId id="271" r:id="rId6"/>
    <p:sldId id="270" r:id="rId7"/>
    <p:sldId id="266" r:id="rId8"/>
    <p:sldId id="258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1C"/>
    <a:srgbClr val="D9027D"/>
    <a:srgbClr val="002D72"/>
    <a:srgbClr val="FF6A1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46478314781515"/>
          <c:y val="0.19638879375493556"/>
          <c:w val="0.70650339237505078"/>
          <c:h val="0.71330180232453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Hárok1!$B$1</c:f>
              <c:strCache>
                <c:ptCount val="1"/>
                <c:pt idx="0">
                  <c:v>Rad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9-4BDC-BCD6-5CAA05510275}"/>
            </c:ext>
          </c:extLst>
        </c:ser>
        <c:ser>
          <c:idx val="1"/>
          <c:order val="1"/>
          <c:tx>
            <c:strRef>
              <c:f>Hárok1!$C$1</c:f>
              <c:strCache>
                <c:ptCount val="1"/>
                <c:pt idx="0">
                  <c:v>Rad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9-4BDC-BCD6-5CAA05510275}"/>
            </c:ext>
          </c:extLst>
        </c:ser>
        <c:ser>
          <c:idx val="2"/>
          <c:order val="2"/>
          <c:tx>
            <c:strRef>
              <c:f>Hárok1!$D$1</c:f>
              <c:strCache>
                <c:ptCount val="1"/>
                <c:pt idx="0">
                  <c:v>Rad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C9-4BDC-BCD6-5CAA05510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13"/>
        <c:axId val="304244376"/>
        <c:axId val="304241240"/>
      </c:barChart>
      <c:catAx>
        <c:axId val="304244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sk-SK"/>
          </a:p>
        </c:txPr>
        <c:crossAx val="304241240"/>
        <c:crosses val="autoZero"/>
        <c:auto val="1"/>
        <c:lblAlgn val="ctr"/>
        <c:lblOffset val="100"/>
        <c:noMultiLvlLbl val="0"/>
      </c:catAx>
      <c:valAx>
        <c:axId val="3042412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sk-SK"/>
          </a:p>
        </c:txPr>
        <c:crossAx val="304244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7.5403180359500971E-4"/>
          <c:w val="6.9352279060550456E-2"/>
          <c:h val="0.193134198587305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350" b="0" i="0" u="none" strike="noStrike" kern="1200" baseline="0">
              <a:solidFill>
                <a:srgbClr val="77777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sk-S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k-S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F174-C4BC-460C-9DE8-4EBD38507E3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A0BC-2C49-4A47-BF6B-7B2A4301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54" y="5797126"/>
            <a:ext cx="2707244" cy="897467"/>
          </a:xfrm>
          <a:prstGeom prst="rect">
            <a:avLst/>
          </a:prstGeom>
        </p:spPr>
      </p:pic>
      <p:sp>
        <p:nvSpPr>
          <p:cNvPr id="4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dnadpis 2"/>
          <p:cNvSpPr>
            <a:spLocks noGrp="1"/>
          </p:cNvSpPr>
          <p:nvPr>
            <p:ph type="subTitle" idx="4294967295"/>
          </p:nvPr>
        </p:nvSpPr>
        <p:spPr>
          <a:xfrm>
            <a:off x="300037" y="2237643"/>
            <a:ext cx="11473353" cy="9585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ozloženie obsah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rázok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5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7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predelového snímku</a:t>
            </a:r>
            <a:br>
              <a:rPr lang="sk-SK" dirty="0"/>
            </a:br>
            <a:r>
              <a:rPr lang="sk-SK" dirty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55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5514975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13" name="Zástupný objekt pre text 2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58186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5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4" name="Zástupný objekt pre obsah 3"/>
          <p:cNvSpPr>
            <a:spLocks noGrp="1"/>
          </p:cNvSpPr>
          <p:nvPr>
            <p:ph sz="quarter" idx="13" hasCustomPrompt="1"/>
          </p:nvPr>
        </p:nvSpPr>
        <p:spPr>
          <a:xfrm>
            <a:off x="371475" y="1354138"/>
            <a:ext cx="11449050" cy="44736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1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graphicFrame>
        <p:nvGraphicFramePr>
          <p:cNvPr id="5" name="Graf 4"/>
          <p:cNvGraphicFramePr/>
          <p:nvPr userDrawn="1">
            <p:extLst>
              <p:ext uri="{D42A27DB-BD31-4B8C-83A1-F6EECF244321}">
                <p14:modId xmlns:p14="http://schemas.microsoft.com/office/powerpoint/2010/main" val="2832957957"/>
              </p:ext>
            </p:extLst>
          </p:nvPr>
        </p:nvGraphicFramePr>
        <p:xfrm>
          <a:off x="385616" y="1217900"/>
          <a:ext cx="11434909" cy="423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9700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902627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474344"/>
            <a:ext cx="4585122" cy="4334319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8" name="Zástupný objekt pre obsah 7"/>
          <p:cNvSpPr>
            <a:spLocks noGrp="1"/>
          </p:cNvSpPr>
          <p:nvPr>
            <p:ph sz="quarter" idx="14" hasCustomPrompt="1"/>
          </p:nvPr>
        </p:nvSpPr>
        <p:spPr>
          <a:xfrm>
            <a:off x="5097463" y="427038"/>
            <a:ext cx="6723062" cy="53816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820508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4585122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14" hasCustomPrompt="1"/>
          </p:nvPr>
        </p:nvSpPr>
        <p:spPr>
          <a:xfrm>
            <a:off x="5087938" y="2751138"/>
            <a:ext cx="6732587" cy="30575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3" name="Zástupný objekt pre obsah 5"/>
          <p:cNvSpPr>
            <a:spLocks noGrp="1"/>
          </p:cNvSpPr>
          <p:nvPr>
            <p:ph sz="quarter" idx="15" hasCustomPrompt="1"/>
          </p:nvPr>
        </p:nvSpPr>
        <p:spPr>
          <a:xfrm>
            <a:off x="5087937" y="427766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  <p:sp>
        <p:nvSpPr>
          <p:cNvPr id="14" name="Zástupný objekt pre obsah 5"/>
          <p:cNvSpPr>
            <a:spLocks noGrp="1"/>
          </p:cNvSpPr>
          <p:nvPr>
            <p:ph sz="quarter" idx="16" hasCustomPrompt="1"/>
          </p:nvPr>
        </p:nvSpPr>
        <p:spPr>
          <a:xfrm>
            <a:off x="8529732" y="427765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93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71475" y="4934108"/>
            <a:ext cx="11449050" cy="902627"/>
          </a:xfrm>
        </p:spPr>
        <p:txBody>
          <a:bodyPr anchor="t">
            <a:noAutofit/>
          </a:bodyPr>
          <a:lstStyle>
            <a:lvl1pPr>
              <a:defRPr sz="36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/>
              <a:t>Nadpis prezentačného snímku</a:t>
            </a:r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246563"/>
            <a:ext cx="11449050" cy="682625"/>
          </a:xfrm>
        </p:spPr>
        <p:txBody>
          <a:bodyPr anchor="b"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/>
              <a:t>Kliknite sem a zadajte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55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Upravte štýly predlohy textu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Upraviť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784D-4928-4D1C-9696-D92BC1EDB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1" r:id="rId4"/>
    <p:sldLayoutId id="2147483666" r:id="rId5"/>
    <p:sldLayoutId id="2147483669" r:id="rId6"/>
    <p:sldLayoutId id="2147483672" r:id="rId7"/>
    <p:sldLayoutId id="2147483667" r:id="rId8"/>
    <p:sldLayoutId id="2147483668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ta"/>
          <p:cNvSpPr txBox="1"/>
          <p:nvPr/>
        </p:nvSpPr>
        <p:spPr>
          <a:xfrm>
            <a:off x="300038" y="6012850"/>
            <a:ext cx="7309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Martin Ceniga, Patrik Jozef Rydzík, Martin Vlk, Lukáš Mrázik</a:t>
            </a:r>
          </a:p>
          <a:p>
            <a:r>
              <a:rPr lang="sk-SK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22.10.202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r>
              <a:rPr lang="sk-SK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FROGGER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4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0120E622-605D-FB3C-AC3E-28594EF11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38712068-1BFC-2446-15A6-FDD16370C76E}"/>
              </a:ext>
            </a:extLst>
          </p:cNvPr>
          <p:cNvSpPr txBox="1"/>
          <p:nvPr/>
        </p:nvSpPr>
        <p:spPr>
          <a:xfrm>
            <a:off x="1887894" y="541176"/>
            <a:ext cx="8416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5400" dirty="0">
                <a:latin typeface="Arial" panose="020B0604020202020204" pitchFamily="34" charset="0"/>
                <a:cs typeface="Arial" panose="020B0604020202020204" pitchFamily="34" charset="0"/>
              </a:rPr>
              <a:t>Predstavenie tímu</a:t>
            </a:r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D9FEEDF0-4E31-F010-1627-1CB44F3E69BD}"/>
              </a:ext>
            </a:extLst>
          </p:cNvPr>
          <p:cNvSpPr txBox="1"/>
          <p:nvPr/>
        </p:nvSpPr>
        <p:spPr>
          <a:xfrm>
            <a:off x="2349759" y="2379307"/>
            <a:ext cx="749248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sz="4400" dirty="0">
                <a:latin typeface="Arial" panose="020B0604020202020204" pitchFamily="34" charset="0"/>
                <a:cs typeface="Arial" panose="020B0604020202020204" pitchFamily="34" charset="0"/>
              </a:rPr>
              <a:t>Martin </a:t>
            </a:r>
            <a:r>
              <a:rPr lang="sk-SK" sz="4400" dirty="0" err="1">
                <a:latin typeface="Arial" panose="020B0604020202020204" pitchFamily="34" charset="0"/>
                <a:cs typeface="Arial" panose="020B0604020202020204" pitchFamily="34" charset="0"/>
              </a:rPr>
              <a:t>Ceniga</a:t>
            </a:r>
            <a:endParaRPr lang="sk-SK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sk-SK" sz="4400" dirty="0">
                <a:latin typeface="Arial" panose="020B0604020202020204" pitchFamily="34" charset="0"/>
                <a:cs typeface="Arial" panose="020B0604020202020204" pitchFamily="34" charset="0"/>
              </a:rPr>
              <a:t>Lukáš Mrázik</a:t>
            </a:r>
          </a:p>
          <a:p>
            <a:pPr algn="ctr"/>
            <a:r>
              <a:rPr lang="sk-SK" sz="4400" dirty="0">
                <a:latin typeface="Arial" panose="020B0604020202020204" pitchFamily="34" charset="0"/>
                <a:cs typeface="Arial" panose="020B0604020202020204" pitchFamily="34" charset="0"/>
              </a:rPr>
              <a:t>Patrik Jozef </a:t>
            </a:r>
            <a:r>
              <a:rPr lang="sk-SK" sz="4400" dirty="0" err="1">
                <a:latin typeface="Arial" panose="020B0604020202020204" pitchFamily="34" charset="0"/>
                <a:cs typeface="Arial" panose="020B0604020202020204" pitchFamily="34" charset="0"/>
              </a:rPr>
              <a:t>Rydzík</a:t>
            </a:r>
            <a:endParaRPr lang="sk-SK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sk-SK" sz="4400" dirty="0">
                <a:latin typeface="Arial" panose="020B0604020202020204" pitchFamily="34" charset="0"/>
                <a:cs typeface="Arial" panose="020B0604020202020204" pitchFamily="34" charset="0"/>
              </a:rPr>
              <a:t>Martin Vlk </a:t>
            </a:r>
          </a:p>
        </p:txBody>
      </p:sp>
    </p:spTree>
    <p:extLst>
      <p:ext uri="{BB962C8B-B14F-4D97-AF65-F5344CB8AC3E}">
        <p14:creationId xmlns:p14="http://schemas.microsoft.com/office/powerpoint/2010/main" val="199690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>
          <a:xfrm>
            <a:off x="843325" y="1024114"/>
            <a:ext cx="4570981" cy="902627"/>
          </a:xfrm>
        </p:spPr>
        <p:txBody>
          <a:bodyPr/>
          <a:lstStyle/>
          <a:p>
            <a:r>
              <a:rPr lang="sk-SK" dirty="0"/>
              <a:t>Predstavenie projektu</a:t>
            </a:r>
            <a:endParaRPr lang="en-US" dirty="0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4"/>
          </p:nvPr>
        </p:nvSpPr>
        <p:spPr>
          <a:xfrm>
            <a:off x="46996" y="2809337"/>
            <a:ext cx="6026096" cy="1661895"/>
          </a:xfrm>
          <a:ln w="76200">
            <a:solidFill>
              <a:srgbClr val="FFB81C"/>
            </a:solidFill>
          </a:ln>
        </p:spPr>
        <p:txBody>
          <a:bodyPr>
            <a:normAutofit/>
          </a:bodyPr>
          <a:lstStyle/>
          <a:p>
            <a:r>
              <a:rPr lang="sk-SK" dirty="0" err="1"/>
              <a:t>Frogger</a:t>
            </a:r>
            <a:r>
              <a:rPr lang="sk-SK" dirty="0"/>
              <a:t>:</a:t>
            </a:r>
          </a:p>
          <a:p>
            <a:pPr marL="342900" indent="-342900">
              <a:buFontTx/>
              <a:buChar char="-"/>
            </a:pPr>
            <a:r>
              <a:rPr lang="sk-SK" dirty="0"/>
              <a:t>Simulačný model prechodu </a:t>
            </a:r>
            <a:r>
              <a:rPr lang="sk-SK" dirty="0" err="1"/>
              <a:t>žáb</a:t>
            </a:r>
            <a:r>
              <a:rPr lang="sk-SK" dirty="0"/>
              <a:t> cez cestu</a:t>
            </a:r>
          </a:p>
          <a:p>
            <a:pPr marL="342900" indent="-342900">
              <a:buFontTx/>
              <a:buChar char="-"/>
            </a:pPr>
            <a:r>
              <a:rPr lang="sk-SK" dirty="0"/>
              <a:t>Cieľom je previesť žaby cez všetky prekážky úspešne do cieľa</a:t>
            </a:r>
          </a:p>
        </p:txBody>
      </p:sp>
      <p:sp>
        <p:nvSpPr>
          <p:cNvPr id="14" name="Zástupný objekt pre obsah 10">
            <a:extLst>
              <a:ext uri="{FF2B5EF4-FFF2-40B4-BE49-F238E27FC236}">
                <a16:creationId xmlns:a16="http://schemas.microsoft.com/office/drawing/2014/main" id="{7E53D0A3-8602-0193-150B-DCBBB7BC2B20}"/>
              </a:ext>
            </a:extLst>
          </p:cNvPr>
          <p:cNvSpPr txBox="1">
            <a:spLocks/>
          </p:cNvSpPr>
          <p:nvPr/>
        </p:nvSpPr>
        <p:spPr>
          <a:xfrm>
            <a:off x="7179749" y="1274841"/>
            <a:ext cx="4219829" cy="1661895"/>
          </a:xfrm>
          <a:prstGeom prst="rect">
            <a:avLst/>
          </a:prstGeom>
          <a:ln w="76200">
            <a:solidFill>
              <a:srgbClr val="FFB81C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02D7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>
                <a:solidFill>
                  <a:schemeClr val="tx2"/>
                </a:solidFill>
              </a:rPr>
              <a:t>Roboti :</a:t>
            </a:r>
          </a:p>
          <a:p>
            <a:pPr marL="342900" indent="-342900">
              <a:buFontTx/>
              <a:buChar char="-"/>
            </a:pPr>
            <a:r>
              <a:rPr lang="sk-SK" dirty="0">
                <a:solidFill>
                  <a:schemeClr val="tx2"/>
                </a:solidFill>
              </a:rPr>
              <a:t>reakcia na náhodné situácie </a:t>
            </a:r>
          </a:p>
          <a:p>
            <a:pPr marL="342900" indent="-342900">
              <a:buFontTx/>
              <a:buChar char="-"/>
            </a:pPr>
            <a:r>
              <a:rPr lang="sk-SK" dirty="0">
                <a:solidFill>
                  <a:schemeClr val="tx2"/>
                </a:solidFill>
              </a:rPr>
              <a:t>odosielanie hotových výrobkov</a:t>
            </a:r>
          </a:p>
          <a:p>
            <a:pPr marL="342900" indent="-342900">
              <a:buFontTx/>
              <a:buChar char="-"/>
            </a:pPr>
            <a:r>
              <a:rPr lang="sk-SK" dirty="0">
                <a:solidFill>
                  <a:schemeClr val="tx2"/>
                </a:solidFill>
              </a:rPr>
              <a:t>Práca pri stroji</a:t>
            </a:r>
          </a:p>
        </p:txBody>
      </p:sp>
      <p:sp>
        <p:nvSpPr>
          <p:cNvPr id="3" name="Obdĺžnik 2">
            <a:extLst>
              <a:ext uri="{FF2B5EF4-FFF2-40B4-BE49-F238E27FC236}">
                <a16:creationId xmlns:a16="http://schemas.microsoft.com/office/drawing/2014/main" id="{E97D69A9-917B-0255-E58A-C0969D71AAD9}"/>
              </a:ext>
            </a:extLst>
          </p:cNvPr>
          <p:cNvSpPr/>
          <p:nvPr/>
        </p:nvSpPr>
        <p:spPr>
          <a:xfrm>
            <a:off x="6064196" y="2769871"/>
            <a:ext cx="1100596" cy="698806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6A69F59D-3123-44BC-6BB9-AE173726A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792" y="2992288"/>
            <a:ext cx="3238500" cy="3238500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177160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Popis ovládania modelu</a:t>
            </a:r>
            <a:endParaRPr lang="en-US" dirty="0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5"/>
          </p:nvPr>
        </p:nvSpPr>
        <p:spPr>
          <a:xfrm>
            <a:off x="385614" y="1394593"/>
            <a:ext cx="4263899" cy="879462"/>
          </a:xfrm>
        </p:spPr>
        <p:txBody>
          <a:bodyPr>
            <a:normAutofit/>
          </a:bodyPr>
          <a:lstStyle/>
          <a:p>
            <a:r>
              <a:rPr lang="pl-PL" b="1" dirty="0"/>
              <a:t>Slidery</a:t>
            </a:r>
            <a:r>
              <a:rPr lang="pl-PL" dirty="0"/>
              <a:t> – rýchlosť áut, počet životov, level obtižnost, čas</a:t>
            </a:r>
            <a:endParaRPr lang="en-US" dirty="0"/>
          </a:p>
        </p:txBody>
      </p:sp>
      <p:sp>
        <p:nvSpPr>
          <p:cNvPr id="10" name="Zástupný objekt pre obsah 10"/>
          <p:cNvSpPr>
            <a:spLocks noGrp="1"/>
          </p:cNvSpPr>
          <p:nvPr>
            <p:ph sz="quarter" idx="15"/>
          </p:nvPr>
        </p:nvSpPr>
        <p:spPr>
          <a:xfrm>
            <a:off x="385615" y="4841295"/>
            <a:ext cx="4263899" cy="748412"/>
          </a:xfrm>
        </p:spPr>
        <p:txBody>
          <a:bodyPr/>
          <a:lstStyle/>
          <a:p>
            <a:r>
              <a:rPr lang="sk-SK" b="1" dirty="0"/>
              <a:t>ukazovatele</a:t>
            </a:r>
            <a:r>
              <a:rPr lang="sk-SK" dirty="0"/>
              <a:t> – počet </a:t>
            </a:r>
            <a:r>
              <a:rPr lang="sk-SK" dirty="0" err="1"/>
              <a:t>žáb</a:t>
            </a:r>
            <a:r>
              <a:rPr lang="sk-SK" dirty="0"/>
              <a:t>, aktuálny level, čas do konca, počet skokov žaby</a:t>
            </a:r>
          </a:p>
        </p:txBody>
      </p:sp>
      <p:sp>
        <p:nvSpPr>
          <p:cNvPr id="13" name="Zástupný objekt pre obsah 10"/>
          <p:cNvSpPr>
            <a:spLocks noGrp="1"/>
          </p:cNvSpPr>
          <p:nvPr>
            <p:ph sz="quarter" idx="15"/>
          </p:nvPr>
        </p:nvSpPr>
        <p:spPr>
          <a:xfrm>
            <a:off x="385611" y="2555767"/>
            <a:ext cx="4263899" cy="748412"/>
          </a:xfrm>
        </p:spPr>
        <p:txBody>
          <a:bodyPr/>
          <a:lstStyle/>
          <a:p>
            <a:r>
              <a:rPr lang="sk-SK" b="1" dirty="0"/>
              <a:t>Tlačidlá</a:t>
            </a:r>
            <a:r>
              <a:rPr lang="sk-SK" dirty="0"/>
              <a:t> – reset hry, spustenie hry, pohyb žaby</a:t>
            </a:r>
            <a:endParaRPr lang="en-US" dirty="0"/>
          </a:p>
        </p:txBody>
      </p:sp>
      <p:sp>
        <p:nvSpPr>
          <p:cNvPr id="4" name="Zástupný objekt pre obsah 10">
            <a:extLst>
              <a:ext uri="{FF2B5EF4-FFF2-40B4-BE49-F238E27FC236}">
                <a16:creationId xmlns:a16="http://schemas.microsoft.com/office/drawing/2014/main" id="{029AEAA7-8730-F5FF-5ADC-C5531B46BE6D}"/>
              </a:ext>
            </a:extLst>
          </p:cNvPr>
          <p:cNvSpPr txBox="1">
            <a:spLocks/>
          </p:cNvSpPr>
          <p:nvPr/>
        </p:nvSpPr>
        <p:spPr>
          <a:xfrm>
            <a:off x="385611" y="3696772"/>
            <a:ext cx="4263899" cy="748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02D7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b="1" dirty="0"/>
              <a:t>Klávesnica</a:t>
            </a:r>
            <a:r>
              <a:rPr lang="sk-SK" dirty="0"/>
              <a:t> – ovládanie žaby</a:t>
            </a:r>
            <a:endParaRPr lang="en-US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D0761998-F260-E54C-EA6C-75CB834B3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82" y="606385"/>
            <a:ext cx="7683610" cy="5572520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107969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31A784D-4928-4D1C-9696-D92BC1EDB409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>
          <a:xfrm>
            <a:off x="385615" y="373834"/>
            <a:ext cx="2743196" cy="619055"/>
          </a:xfrm>
        </p:spPr>
        <p:txBody>
          <a:bodyPr anchor="ctr">
            <a:normAutofit/>
          </a:bodyPr>
          <a:lstStyle/>
          <a:p>
            <a:r>
              <a:rPr lang="sk-SK" b="1" dirty="0"/>
              <a:t>Motív projektu</a:t>
            </a: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CE192BE-556F-147F-1702-6FBEB20BD1F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7951" y="1576774"/>
            <a:ext cx="5966605" cy="447369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k-SK" altLang="sk-SK" dirty="0"/>
              <a:t>Inšpirácia z klasickej videohry </a:t>
            </a:r>
            <a:r>
              <a:rPr lang="sk-SK" altLang="sk-SK" dirty="0" err="1"/>
              <a:t>Frogger</a:t>
            </a:r>
            <a:r>
              <a:rPr lang="sk-SK" altLang="sk-SK" dirty="0"/>
              <a:t>.</a:t>
            </a: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k-SK" altLang="sk-SK" dirty="0"/>
              <a:t>Téma je dobre škálovateľná. </a:t>
            </a: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lang="sk-SK" altLang="sk-SK" dirty="0"/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sk-SK" altLang="sk-SK" b="0" i="0" u="none" strike="noStrike" cap="none" normalizeH="0" baseline="0" dirty="0">
                <a:ln>
                  <a:noFill/>
                </a:ln>
                <a:effectLst/>
              </a:rPr>
              <a:t>Umožňuje rozdelenie tém medzi </a:t>
            </a:r>
            <a:r>
              <a:rPr lang="sk-SK" altLang="sk-SK" dirty="0"/>
              <a:t>   </a:t>
            </a:r>
            <a:r>
              <a:rPr kumimoji="0" lang="sk-SK" altLang="sk-SK" b="0" i="0" u="none" strike="noStrike" cap="none" normalizeH="0" baseline="0" dirty="0">
                <a:ln>
                  <a:noFill/>
                </a:ln>
                <a:effectLst/>
              </a:rPr>
              <a:t>členov tímu.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sk-SK" altLang="sk-SK" dirty="0"/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sk-SK" altLang="sk-SK" dirty="0"/>
              <a:t>Možnosť precvičenia objektového programovania.</a:t>
            </a: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sk-SK" altLang="sk-SK" b="0" i="0" u="none" strike="noStrike" cap="none" normalizeH="0" baseline="0" dirty="0">
              <a:ln>
                <a:noFill/>
              </a:ln>
              <a:effectLst/>
            </a:endParaRPr>
          </a:p>
        </p:txBody>
      </p:sp>
      <p:cxnSp>
        <p:nvCxnSpPr>
          <p:cNvPr id="5" name="Rovná spojnica 4">
            <a:extLst>
              <a:ext uri="{FF2B5EF4-FFF2-40B4-BE49-F238E27FC236}">
                <a16:creationId xmlns:a16="http://schemas.microsoft.com/office/drawing/2014/main" id="{18B69A09-2D8E-B107-6F4C-CEF369B61105}"/>
              </a:ext>
            </a:extLst>
          </p:cNvPr>
          <p:cNvCxnSpPr>
            <a:cxnSpLocks/>
          </p:cNvCxnSpPr>
          <p:nvPr/>
        </p:nvCxnSpPr>
        <p:spPr>
          <a:xfrm flipV="1">
            <a:off x="5933715" y="0"/>
            <a:ext cx="0" cy="6316980"/>
          </a:xfrm>
          <a:prstGeom prst="line">
            <a:avLst/>
          </a:prstGeom>
          <a:ln w="762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Obrázok 6">
            <a:extLst>
              <a:ext uri="{FF2B5EF4-FFF2-40B4-BE49-F238E27FC236}">
                <a16:creationId xmlns:a16="http://schemas.microsoft.com/office/drawing/2014/main" id="{7884ECB8-0BCF-33FE-7F11-178CC8203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08" y="0"/>
            <a:ext cx="6217441" cy="621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31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885539" y="671354"/>
            <a:ext cx="2535581" cy="475667"/>
          </a:xfrm>
        </p:spPr>
        <p:txBody>
          <a:bodyPr/>
          <a:lstStyle/>
          <a:p>
            <a:pPr algn="ctr"/>
            <a:r>
              <a:rPr lang="sk-SK" b="1" dirty="0"/>
              <a:t>Problematika</a:t>
            </a:r>
            <a:endParaRPr lang="en-US" b="1" dirty="0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quarter" idx="13"/>
          </p:nvPr>
        </p:nvSpPr>
        <p:spPr>
          <a:xfrm>
            <a:off x="2299697" y="2213085"/>
            <a:ext cx="2985142" cy="475667"/>
          </a:xfrm>
          <a:ln w="76200">
            <a:solidFill>
              <a:srgbClr val="FFB81C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sk-SK" dirty="0">
                <a:solidFill>
                  <a:schemeClr val="tx2"/>
                </a:solidFill>
              </a:rPr>
              <a:t>Málo herných režimov</a:t>
            </a:r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0CF8AA59-B607-1D30-6C5E-DB28EDB4F12D}"/>
              </a:ext>
            </a:extLst>
          </p:cNvPr>
          <p:cNvSpPr txBox="1"/>
          <p:nvPr/>
        </p:nvSpPr>
        <p:spPr>
          <a:xfrm>
            <a:off x="7567511" y="1345798"/>
            <a:ext cx="2578353" cy="461665"/>
          </a:xfrm>
          <a:prstGeom prst="rect">
            <a:avLst/>
          </a:prstGeom>
          <a:noFill/>
          <a:ln w="76200">
            <a:solidFill>
              <a:srgbClr val="FFB81C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sk-SK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Plynulosť pohybu</a:t>
            </a:r>
          </a:p>
        </p:txBody>
      </p:sp>
      <p:cxnSp>
        <p:nvCxnSpPr>
          <p:cNvPr id="17" name="Rovná spojovacia šípka 16">
            <a:extLst>
              <a:ext uri="{FF2B5EF4-FFF2-40B4-BE49-F238E27FC236}">
                <a16:creationId xmlns:a16="http://schemas.microsoft.com/office/drawing/2014/main" id="{2A478D8D-2E37-AAF3-00EA-A24053E0B8C9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flipH="1">
            <a:off x="3792268" y="1147021"/>
            <a:ext cx="1361062" cy="106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ovná spojovacia šípka 18">
            <a:extLst>
              <a:ext uri="{FF2B5EF4-FFF2-40B4-BE49-F238E27FC236}">
                <a16:creationId xmlns:a16="http://schemas.microsoft.com/office/drawing/2014/main" id="{5E6B3FD4-D585-CCC5-630D-E239C0550918}"/>
              </a:ext>
            </a:extLst>
          </p:cNvPr>
          <p:cNvCxnSpPr>
            <a:cxnSpLocks/>
            <a:stCxn id="3" idx="2"/>
            <a:endCxn id="13" idx="1"/>
          </p:cNvCxnSpPr>
          <p:nvPr/>
        </p:nvCxnSpPr>
        <p:spPr>
          <a:xfrm>
            <a:off x="5153330" y="1147021"/>
            <a:ext cx="2414181" cy="429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Obrázok 13">
            <a:extLst>
              <a:ext uri="{FF2B5EF4-FFF2-40B4-BE49-F238E27FC236}">
                <a16:creationId xmlns:a16="http://schemas.microsoft.com/office/drawing/2014/main" id="{D8F9E8B0-5963-AE83-F10F-4272CD11F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4" y="2688753"/>
            <a:ext cx="6224010" cy="3497894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  <p:pic>
        <p:nvPicPr>
          <p:cNvPr id="16" name="Obrázok 15">
            <a:extLst>
              <a:ext uri="{FF2B5EF4-FFF2-40B4-BE49-F238E27FC236}">
                <a16:creationId xmlns:a16="http://schemas.microsoft.com/office/drawing/2014/main" id="{CC3D601B-8BA4-7BED-E3AD-5BA0D0837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13" y="1847506"/>
            <a:ext cx="2333542" cy="3616990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171807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Ciele Projektu</a:t>
            </a:r>
          </a:p>
        </p:txBody>
      </p:sp>
      <p:pic>
        <p:nvPicPr>
          <p:cNvPr id="1026" name="Picture 2" descr="NetLogo Home">
            <a:extLst>
              <a:ext uri="{FF2B5EF4-FFF2-40B4-BE49-F238E27FC236}">
                <a16:creationId xmlns:a16="http://schemas.microsoft.com/office/drawing/2014/main" id="{EE598856-C487-FBB2-6FA8-621AF862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888" y="-1"/>
            <a:ext cx="2213786" cy="221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1131" y="1080992"/>
            <a:ext cx="10901240" cy="1690671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sk-SK" dirty="0"/>
              <a:t>Aplikácia na báze simulácie hry </a:t>
            </a:r>
            <a:r>
              <a:rPr lang="sk-SK" dirty="0" err="1"/>
              <a:t>Frogger</a:t>
            </a:r>
            <a:r>
              <a:rPr lang="sk-SK" dirty="0"/>
              <a:t> z </a:t>
            </a:r>
            <a:r>
              <a:rPr lang="sk-SK" dirty="0" err="1"/>
              <a:t>NetLogo</a:t>
            </a:r>
            <a:r>
              <a:rPr lang="sk-SK" dirty="0"/>
              <a:t>.</a:t>
            </a:r>
          </a:p>
          <a:p>
            <a:pPr marL="342900" indent="-342900">
              <a:buFontTx/>
              <a:buChar char="-"/>
            </a:pPr>
            <a:r>
              <a:rPr lang="sk-SK" dirty="0"/>
              <a:t>Zlepšiť plynulosť obrazu oproti </a:t>
            </a:r>
            <a:r>
              <a:rPr lang="sk-SK" dirty="0" err="1"/>
              <a:t>Froggera</a:t>
            </a:r>
            <a:r>
              <a:rPr lang="sk-SK" dirty="0"/>
              <a:t> z </a:t>
            </a:r>
            <a:r>
              <a:rPr lang="sk-SK" dirty="0" err="1"/>
              <a:t>NetLogo</a:t>
            </a:r>
            <a:r>
              <a:rPr lang="sk-SK" dirty="0"/>
              <a:t>.</a:t>
            </a:r>
          </a:p>
          <a:p>
            <a:pPr marL="342900" indent="-342900">
              <a:buFontTx/>
              <a:buChar char="-"/>
            </a:pPr>
            <a:r>
              <a:rPr lang="sk-SK" dirty="0"/>
              <a:t>Pridanie nového herného režimu – </a:t>
            </a:r>
            <a:r>
              <a:rPr lang="sk-SK" dirty="0" err="1"/>
              <a:t>High</a:t>
            </a:r>
            <a:r>
              <a:rPr lang="sk-SK" dirty="0"/>
              <a:t> </a:t>
            </a:r>
            <a:r>
              <a:rPr lang="sk-SK" dirty="0" err="1"/>
              <a:t>Score</a:t>
            </a:r>
            <a:r>
              <a:rPr lang="sk-SK" dirty="0"/>
              <a:t>.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F340A829-6F7C-6A08-1C77-3D42F1F2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8" y="2986544"/>
            <a:ext cx="3238500" cy="3238500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B4B1CE51-4413-B6EE-B610-785DED6A1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221" y="2628736"/>
            <a:ext cx="6404246" cy="3596308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4128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385616" y="373834"/>
            <a:ext cx="10430022" cy="1325563"/>
          </a:xfrm>
        </p:spPr>
        <p:txBody>
          <a:bodyPr/>
          <a:lstStyle/>
          <a:p>
            <a:r>
              <a:rPr lang="sk-SK" dirty="0"/>
              <a:t>Časový plán projektu</a:t>
            </a:r>
            <a:endParaRPr lang="en-US" dirty="0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Obrázok 4" descr="Obrázok, na ktorom je snímka obrazovky, text, rad, vývoj&#10;&#10;Obsah vygenerovaný pomocou AI môže byť nesprávny.">
            <a:extLst>
              <a:ext uri="{FF2B5EF4-FFF2-40B4-BE49-F238E27FC236}">
                <a16:creationId xmlns:a16="http://schemas.microsoft.com/office/drawing/2014/main" id="{BD566670-385A-49E5-A159-4425598E4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9" y="2166437"/>
            <a:ext cx="12064781" cy="4040957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2430689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0" y="2700458"/>
            <a:ext cx="5378840" cy="7876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/>
              <a:t>Ditor analýza Robotic Factory</a:t>
            </a:r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2B8C73A4-D186-21FC-8F37-43D3325F0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22" y="644057"/>
            <a:ext cx="7162751" cy="5506336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</p:spTree>
    <p:extLst>
      <p:ext uri="{BB962C8B-B14F-4D97-AF65-F5344CB8AC3E}">
        <p14:creationId xmlns:p14="http://schemas.microsoft.com/office/powerpoint/2010/main" val="2781028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>
            <a:extLst>
              <a:ext uri="{FF2B5EF4-FFF2-40B4-BE49-F238E27FC236}">
                <a16:creationId xmlns:a16="http://schemas.microsoft.com/office/drawing/2014/main" id="{89298372-3823-2A2F-5D95-C1B51514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02770C2-6B00-CE65-080C-815727E0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267" y="2359602"/>
            <a:ext cx="6608209" cy="1309476"/>
          </a:xfrm>
          <a:ln w="76200">
            <a:solidFill>
              <a:srgbClr val="FFB81C"/>
            </a:solidFill>
          </a:ln>
        </p:spPr>
        <p:txBody>
          <a:bodyPr>
            <a:normAutofit/>
          </a:bodyPr>
          <a:lstStyle/>
          <a:p>
            <a:pPr algn="ctr"/>
            <a:r>
              <a:rPr lang="sk-SK" sz="4400" dirty="0"/>
              <a:t>Ďakujeme za pozornosť</a:t>
            </a:r>
          </a:p>
        </p:txBody>
      </p:sp>
      <p:pic>
        <p:nvPicPr>
          <p:cNvPr id="9" name="Obrázok 8">
            <a:extLst>
              <a:ext uri="{FF2B5EF4-FFF2-40B4-BE49-F238E27FC236}">
                <a16:creationId xmlns:a16="http://schemas.microsoft.com/office/drawing/2014/main" id="{9FCBED3D-95B0-208C-B146-C0F7C46C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808" y="3709161"/>
            <a:ext cx="2143125" cy="2143125"/>
          </a:xfrm>
          <a:prstGeom prst="rect">
            <a:avLst/>
          </a:prstGeom>
          <a:ln w="76200">
            <a:solidFill>
              <a:srgbClr val="FFB81C"/>
            </a:solidFill>
          </a:ln>
        </p:spPr>
      </p:pic>
      <p:cxnSp>
        <p:nvCxnSpPr>
          <p:cNvPr id="12" name="Rovná spojnica 11">
            <a:extLst>
              <a:ext uri="{FF2B5EF4-FFF2-40B4-BE49-F238E27FC236}">
                <a16:creationId xmlns:a16="http://schemas.microsoft.com/office/drawing/2014/main" id="{60414F65-42B3-B18B-7756-5BB179B67309}"/>
              </a:ext>
            </a:extLst>
          </p:cNvPr>
          <p:cNvCxnSpPr>
            <a:cxnSpLocks/>
          </p:cNvCxnSpPr>
          <p:nvPr/>
        </p:nvCxnSpPr>
        <p:spPr>
          <a:xfrm>
            <a:off x="2738218" y="3684980"/>
            <a:ext cx="2167736" cy="2191159"/>
          </a:xfrm>
          <a:prstGeom prst="line">
            <a:avLst/>
          </a:prstGeom>
          <a:ln w="762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ovná spojnica 28">
            <a:extLst>
              <a:ext uri="{FF2B5EF4-FFF2-40B4-BE49-F238E27FC236}">
                <a16:creationId xmlns:a16="http://schemas.microsoft.com/office/drawing/2014/main" id="{45F8FF7B-E20A-B104-DDB5-3A7091C30322}"/>
              </a:ext>
            </a:extLst>
          </p:cNvPr>
          <p:cNvCxnSpPr>
            <a:cxnSpLocks/>
          </p:cNvCxnSpPr>
          <p:nvPr/>
        </p:nvCxnSpPr>
        <p:spPr>
          <a:xfrm flipH="1">
            <a:off x="7154836" y="3677029"/>
            <a:ext cx="2183640" cy="2207061"/>
          </a:xfrm>
          <a:prstGeom prst="line">
            <a:avLst/>
          </a:prstGeom>
          <a:ln w="762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95263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balíka Office">
  <a:themeElements>
    <a:clrScheme name="Vlastné 1">
      <a:dk1>
        <a:srgbClr val="002D72"/>
      </a:dk1>
      <a:lt1>
        <a:sysClr val="window" lastClr="FFFFFF"/>
      </a:lt1>
      <a:dk2>
        <a:srgbClr val="002D72"/>
      </a:dk2>
      <a:lt2>
        <a:srgbClr val="E7E6E6"/>
      </a:lt2>
      <a:accent1>
        <a:srgbClr val="002D72"/>
      </a:accent1>
      <a:accent2>
        <a:srgbClr val="A1A5C8"/>
      </a:accent2>
      <a:accent3>
        <a:srgbClr val="3E5698"/>
      </a:accent3>
      <a:accent4>
        <a:srgbClr val="6CACE4"/>
      </a:accent4>
      <a:accent5>
        <a:srgbClr val="A9C9EB"/>
      </a:accent5>
      <a:accent6>
        <a:srgbClr val="AEABA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178</Words>
  <Application>Microsoft Office PowerPoint</Application>
  <PresentationFormat>Širokouhlá</PresentationFormat>
  <Paragraphs>49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Motív balíka Office</vt:lpstr>
      <vt:lpstr>FROGGER</vt:lpstr>
      <vt:lpstr>Prezentácia programu PowerPoint</vt:lpstr>
      <vt:lpstr>Predstavenie projektu</vt:lpstr>
      <vt:lpstr>Popis ovládania modelu</vt:lpstr>
      <vt:lpstr>Motív projektu</vt:lpstr>
      <vt:lpstr>Problematika</vt:lpstr>
      <vt:lpstr>Ciele Projektu</vt:lpstr>
      <vt:lpstr>Časový plán projektu</vt:lpstr>
      <vt:lpstr>Prezentácia programu PowerPoint</vt:lpstr>
      <vt:lpstr>Ďakujeme za pozornosť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XI</dc:creator>
  <cp:lastModifiedBy>Martin Ceniga</cp:lastModifiedBy>
  <cp:revision>67</cp:revision>
  <dcterms:created xsi:type="dcterms:W3CDTF">2021-04-12T06:48:28Z</dcterms:created>
  <dcterms:modified xsi:type="dcterms:W3CDTF">2025-12-02T17:35:02Z</dcterms:modified>
</cp:coreProperties>
</file>